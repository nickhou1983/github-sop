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VS Code 针对 Token 优化的关键功能汇总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D4F0"/>
                </a:solidFill>
                <a:latin typeface="Calibri"/>
              </a:defRPr>
            </a:pPr>
            <a:r>
              <a:t>目标：在保障回答质量的同时，减少上下文占用与重复计费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349240" cy="1417320"/>
          </a:xfrm>
          <a:prstGeom prst="rect">
            <a:avLst/>
          </a:prstGeom>
          <a:solidFill>
            <a:srgbClr val="F5FAFF"/>
          </a:solidFill>
          <a:ln w="12700">
            <a:solidFill>
              <a:srgbClr val="9FC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55064"/>
            <a:ext cx="4892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2A47"/>
                </a:solidFill>
                <a:latin typeface="Calibri"/>
              </a:defRPr>
            </a:pPr>
            <a:r>
              <a:t>Prompt 缓存优化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C3D5A"/>
                </a:solidFill>
                <a:latin typeface="Calibri"/>
              </a:defRPr>
            </a:pPr>
            <a:r>
              <a:t>稳定断点与缓存友好结构，实现高比例上下文复用（93%+）。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90672"/>
            <a:ext cx="5349240" cy="1417320"/>
          </a:xfrm>
          <a:prstGeom prst="rect">
            <a:avLst/>
          </a:prstGeom>
          <a:solidFill>
            <a:srgbClr val="F5FAFF"/>
          </a:solidFill>
          <a:ln w="12700">
            <a:solidFill>
              <a:srgbClr val="9FC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36976"/>
            <a:ext cx="4892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2A47"/>
                </a:solidFill>
                <a:latin typeface="Calibri"/>
              </a:defRPr>
            </a:pPr>
            <a:r>
              <a:t>Tool Search 延迟加载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93592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C3D5A"/>
                </a:solidFill>
                <a:latin typeface="Calibri"/>
              </a:defRPr>
            </a:pPr>
            <a:r>
              <a:t>核心工具常驻，其他工具按需注入，显著减少每轮工具Schema Token。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72584"/>
            <a:ext cx="5349240" cy="1417320"/>
          </a:xfrm>
          <a:prstGeom prst="rect">
            <a:avLst/>
          </a:prstGeom>
          <a:solidFill>
            <a:srgbClr val="F5FAFF"/>
          </a:solidFill>
          <a:ln w="12700">
            <a:solidFill>
              <a:srgbClr val="9FC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18888"/>
            <a:ext cx="4892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2A47"/>
                </a:solidFill>
                <a:latin typeface="Calibri"/>
              </a:defRPr>
            </a:pPr>
            <a:r>
              <a:t>Agentic Search/Execution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75504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C3D5A"/>
                </a:solidFill>
                <a:latin typeface="Calibri"/>
              </a:defRPr>
            </a:pPr>
            <a:r>
              <a:t>将搜索与终端执行卸载给小模型，降低主模型Token与成本。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5349240" cy="1417320"/>
          </a:xfrm>
          <a:prstGeom prst="rect">
            <a:avLst/>
          </a:prstGeom>
          <a:solidFill>
            <a:srgbClr val="F5FAFF"/>
          </a:solidFill>
          <a:ln w="12700">
            <a:solidFill>
              <a:srgbClr val="9FC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55064"/>
            <a:ext cx="4892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2A47"/>
                </a:solidFill>
                <a:latin typeface="Calibri"/>
              </a:defRPr>
            </a:pPr>
            <a:r>
              <a:t>终端输出压缩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C3D5A"/>
                </a:solidFill>
                <a:latin typeface="Calibri"/>
              </a:defRPr>
            </a:pPr>
            <a:r>
              <a:t>自动压缩 diff、测试、安装日志等冗余输出，保留关键结论。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090672"/>
            <a:ext cx="5349240" cy="1417320"/>
          </a:xfrm>
          <a:prstGeom prst="rect">
            <a:avLst/>
          </a:prstGeom>
          <a:solidFill>
            <a:srgbClr val="F5FAFF"/>
          </a:solidFill>
          <a:ln w="12700">
            <a:solidFill>
              <a:srgbClr val="9FC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236976"/>
            <a:ext cx="4892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2A47"/>
                </a:solidFill>
                <a:latin typeface="Calibri"/>
              </a:defRPr>
            </a:pPr>
            <a:r>
              <a:t>后台 Todo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93592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C3D5A"/>
                </a:solidFill>
                <a:latin typeface="Calibri"/>
              </a:defRPr>
            </a:pPr>
            <a:r>
              <a:t>任务清单由轻量模型维护，主模型聚焦推理与编码。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672584"/>
            <a:ext cx="5349240" cy="1417320"/>
          </a:xfrm>
          <a:prstGeom prst="rect">
            <a:avLst/>
          </a:prstGeom>
          <a:solidFill>
            <a:srgbClr val="F5FAFF"/>
          </a:solidFill>
          <a:ln w="12700">
            <a:solidFill>
              <a:srgbClr val="9FC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18888"/>
            <a:ext cx="4892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2A47"/>
                </a:solidFill>
                <a:latin typeface="Calibri"/>
              </a:defRPr>
            </a:pPr>
            <a:r>
              <a:t>WebSocket 增量传输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175504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C3D5A"/>
                </a:solidFill>
                <a:latin typeface="Calibri"/>
              </a:defRPr>
            </a:pPr>
            <a:r>
              <a:t>会话状态服务端保持，仅传新增输入，减少重复历史传输。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28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C8DEF3"/>
                </a:solidFill>
                <a:latin typeface="Calibri"/>
              </a:defRPr>
            </a:pPr>
            <a:r>
              <a:t>核心思路：分层（Layering）+ 缓存（Caching）+ 卸载（Offloading）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